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77" r:id="rId3"/>
    <p:sldId id="280" r:id="rId4"/>
    <p:sldId id="303" r:id="rId5"/>
    <p:sldId id="281" r:id="rId6"/>
    <p:sldId id="282" r:id="rId7"/>
    <p:sldId id="283" r:id="rId8"/>
    <p:sldId id="286" r:id="rId9"/>
    <p:sldId id="284" r:id="rId10"/>
    <p:sldId id="285" r:id="rId11"/>
    <p:sldId id="288" r:id="rId12"/>
    <p:sldId id="289" r:id="rId13"/>
    <p:sldId id="290" r:id="rId14"/>
    <p:sldId id="292" r:id="rId15"/>
    <p:sldId id="293" r:id="rId16"/>
    <p:sldId id="294" r:id="rId17"/>
    <p:sldId id="295" r:id="rId18"/>
    <p:sldId id="297" r:id="rId19"/>
    <p:sldId id="298" r:id="rId20"/>
    <p:sldId id="299" r:id="rId21"/>
    <p:sldId id="300" r:id="rId22"/>
    <p:sldId id="301" r:id="rId23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73B"/>
    <a:srgbClr val="1E273B"/>
    <a:srgbClr val="2B4141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67" autoAdjust="0"/>
    <p:restoredTop sz="94660"/>
  </p:normalViewPr>
  <p:slideViewPr>
    <p:cSldViewPr snapToGrid="0">
      <p:cViewPr varScale="1">
        <p:scale>
          <a:sx n="301" d="100"/>
          <a:sy n="301" d="100"/>
        </p:scale>
        <p:origin x="955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8DC8F-CB6F-4533-A8E2-F07682B5833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AB5F-591D-4B56-9091-1F8F97E451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9297"/>
            <a:ext cx="2400300" cy="636693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60543"/>
            <a:ext cx="2400300" cy="441537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0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55930"/>
            <a:ext cx="2760345" cy="760730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23857"/>
            <a:ext cx="2760345" cy="400050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7367"/>
            <a:ext cx="276034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8310"/>
            <a:ext cx="1353919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68020"/>
            <a:ext cx="1353919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8310"/>
            <a:ext cx="1360587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68020"/>
            <a:ext cx="1360587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63314"/>
            <a:ext cx="1620203" cy="1299633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63314"/>
            <a:ext cx="1620203" cy="1299633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7367"/>
            <a:ext cx="69008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7367"/>
            <a:ext cx="2030254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7367"/>
            <a:ext cx="276034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95027"/>
            <a:ext cx="108013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325" indent="-60325" algn="l" defTabSz="240030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35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37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54038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6040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8041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90043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102044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2901" y="171044"/>
            <a:ext cx="298513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Proceso de Evaluación Automática 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en Problemas de 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Enrutamiento de Vehículos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3885" y="908008"/>
            <a:ext cx="192278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Autor: Josué Rodríguez Ramírez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Tutor: Fernando Raúl Rodríguez Flores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Cotutor: Lic. Rodrigo García Gómez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</p:txBody>
      </p:sp>
      <p:sp>
        <p:nvSpPr>
          <p:cNvPr id="12" name="Cuadro de texto 11"/>
          <p:cNvSpPr txBox="1"/>
          <p:nvPr/>
        </p:nvSpPr>
        <p:spPr>
          <a:xfrm>
            <a:off x="200025" y="1530985"/>
            <a:ext cx="689610" cy="168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500" spc="79" dirty="0">
                <a:solidFill>
                  <a:schemeClr val="bg1"/>
                </a:solidFill>
                <a:latin typeface="Raanana Regular" charset="0"/>
                <a:cs typeface="Raanana Regular" charset="0"/>
                <a:sym typeface="+mn-ea"/>
              </a:rPr>
              <a:t>@josue_rdgz</a:t>
            </a:r>
            <a:endParaRPr lang="en-US" altLang="zh-CN" sz="500" spc="79" dirty="0">
              <a:solidFill>
                <a:schemeClr val="bg1"/>
              </a:solidFill>
              <a:latin typeface="Raanana Regular" charset="0"/>
              <a:cs typeface="Raanana Regular" charset="0"/>
              <a:sym typeface="+mn-ea"/>
            </a:endParaRPr>
          </a:p>
        </p:txBody>
      </p:sp>
      <p:sp>
        <p:nvSpPr>
          <p:cNvPr id="38" name="Cuadro de texto 37"/>
          <p:cNvSpPr txBox="1"/>
          <p:nvPr/>
        </p:nvSpPr>
        <p:spPr>
          <a:xfrm>
            <a:off x="2526665" y="1517650"/>
            <a:ext cx="805815" cy="183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s-ES" altLang="en-US" sz="600" spc="79" dirty="0">
                <a:solidFill>
                  <a:schemeClr val="bg1"/>
                </a:solidFill>
                <a:latin typeface="Raanana Regular" charset="0"/>
                <a:cs typeface="Raanana Regular" charset="0"/>
                <a:sym typeface="+mn-ea"/>
              </a:rPr>
              <a:t>+525533242336</a:t>
            </a:r>
            <a:endParaRPr lang="es-ES" altLang="en-US" sz="600" spc="79" dirty="0">
              <a:solidFill>
                <a:schemeClr val="bg1"/>
              </a:solidFill>
              <a:latin typeface="Raanana Regular" charset="0"/>
              <a:cs typeface="Raanana Regular" charset="0"/>
              <a:sym typeface="+mn-ea"/>
            </a:endParaRPr>
          </a:p>
        </p:txBody>
      </p:sp>
      <p:sp>
        <p:nvSpPr>
          <p:cNvPr id="40" name="Cuadro de texto 39"/>
          <p:cNvSpPr txBox="1"/>
          <p:nvPr/>
        </p:nvSpPr>
        <p:spPr>
          <a:xfrm>
            <a:off x="1089025" y="1525270"/>
            <a:ext cx="1305560" cy="168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s-ES" altLang="en-US" sz="500" spc="79" dirty="0">
                <a:solidFill>
                  <a:schemeClr val="bg1"/>
                </a:solidFill>
                <a:latin typeface="Raanana Regular" charset="0"/>
                <a:ea typeface="Apple LiSung" charset="-122"/>
                <a:cs typeface="Raanana Regular" charset="0"/>
                <a:sym typeface="+mn-ea"/>
              </a:rPr>
              <a:t>josuerdgz.ramirez@gmail.com</a:t>
            </a:r>
            <a:endParaRPr lang="es-ES" altLang="en-US" sz="500" spc="79" dirty="0">
              <a:solidFill>
                <a:schemeClr val="bg1"/>
              </a:solidFill>
              <a:latin typeface="Raanana Regular" charset="0"/>
              <a:ea typeface="Apple LiSung" charset="-122"/>
              <a:cs typeface="Raanana Regular" charset="0"/>
              <a:sym typeface="+mn-ea"/>
            </a:endParaRPr>
          </a:p>
        </p:txBody>
      </p:sp>
      <p:pic>
        <p:nvPicPr>
          <p:cNvPr id="45" name="Imagen 44" descr="icons8-telegram-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" y="1558925"/>
            <a:ext cx="127000" cy="127000"/>
          </a:xfrm>
          <a:prstGeom prst="rect">
            <a:avLst/>
          </a:prstGeom>
        </p:spPr>
      </p:pic>
      <p:pic>
        <p:nvPicPr>
          <p:cNvPr id="48" name="Imagen 47" descr="icons8-correo-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" y="1536700"/>
            <a:ext cx="156210" cy="156210"/>
          </a:xfrm>
          <a:prstGeom prst="rect">
            <a:avLst/>
          </a:prstGeom>
        </p:spPr>
      </p:pic>
      <p:pic>
        <p:nvPicPr>
          <p:cNvPr id="55" name="Imagen 54" descr="icons8-whatsapp-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335" y="1531620"/>
            <a:ext cx="156210" cy="156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63488" y="229"/>
            <a:ext cx="12039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Introducción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590" y="306663"/>
            <a:ext cx="3201035" cy="1167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Problemas de Enrutamiento de Vehículos: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algn="l"/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Son problemas logísticos.</a:t>
            </a:r>
            <a:endParaRPr lang="es-ES" altLang="en-US" sz="8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Generan gastos millonarios diarios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Optimizar estos problemas significaría ahorros considerables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Múltiples variantes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redondeado 2"/>
          <p:cNvSpPr/>
          <p:nvPr/>
        </p:nvSpPr>
        <p:spPr>
          <a:xfrm>
            <a:off x="85725" y="75565"/>
            <a:ext cx="3028950" cy="1704340"/>
          </a:xfrm>
          <a:prstGeom prst="roundRect">
            <a:avLst>
              <a:gd name="adj" fmla="val 26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30" y="112395"/>
            <a:ext cx="2000250" cy="145351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107315" y="1197610"/>
            <a:ext cx="27882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Depósito(s)</a:t>
            </a: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Flota de vehículos</a:t>
            </a: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Conjunto de clientes</a:t>
            </a: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 Encontrar rutas de costo mínimo desde depósitos hasta clientes</a:t>
            </a:r>
            <a:endParaRPr lang="es-ES" altLang="en-US" sz="600"/>
          </a:p>
        </p:txBody>
      </p:sp>
      <p:sp>
        <p:nvSpPr>
          <p:cNvPr id="5" name="Cuadro de texto 4"/>
          <p:cNvSpPr txBox="1"/>
          <p:nvPr/>
        </p:nvSpPr>
        <p:spPr>
          <a:xfrm>
            <a:off x="267335" y="112395"/>
            <a:ext cx="829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ES" altLang="en-US" sz="1200"/>
              <a:t>VRP</a:t>
            </a:r>
            <a:endParaRPr lang="es-ES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7"/>
          <p:cNvSpPr txBox="1"/>
          <p:nvPr/>
        </p:nvSpPr>
        <p:spPr>
          <a:xfrm>
            <a:off x="905510" y="0"/>
            <a:ext cx="1637665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Múltiples variantes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ea typeface="Roboto Bk" pitchFamily="2" charset="0"/>
              <a:cs typeface="Arial Regular" panose="020B0604020202020204" charset="0"/>
              <a:sym typeface="+mn-ea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95885" y="523240"/>
            <a:ext cx="2794000" cy="808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VRP con restricciones de capacidad (CVRP)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VRP con recogida y entrega (VRPPD)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VRP con ventanas de tiempo (VRPTW)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VRP con más de un depósito (MDVRP)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63488" y="229"/>
            <a:ext cx="12039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Introducción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590" y="306663"/>
            <a:ext cx="3201035" cy="1332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Problemas de Enrutamiento de Vehículos: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algn="l"/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0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Son problemas logísticos.</a:t>
            </a:r>
            <a:endParaRPr lang="es-ES" altLang="en-US" sz="80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Generan gastos millonarios diarios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Optimizar estos problemas significaría ahorros considerables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Múltiples variantes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  <a:sym typeface="+mn-ea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NP-Duros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7"/>
          <p:cNvSpPr txBox="1"/>
          <p:nvPr/>
        </p:nvSpPr>
        <p:spPr>
          <a:xfrm>
            <a:off x="698500" y="40005"/>
            <a:ext cx="203962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ea typeface="Roboto Bk" pitchFamily="2" charset="0"/>
                <a:cs typeface="Arial Regular" panose="020B0604020202020204" charset="0"/>
                <a:sym typeface="+mn-ea"/>
              </a:rPr>
              <a:t>Algoritmos de Búsqueda Local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ea typeface="Roboto Bk" pitchFamily="2" charset="0"/>
              <a:cs typeface="Arial Regular" panose="020B0604020202020204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" y="610828"/>
            <a:ext cx="3154680" cy="9582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171450" indent="-1714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Se parte de una solución inicial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Se modifica para obtener el conjunto de soluciones vecinas.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Se usan estructuras de entorno o criterios de vecindad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lnSpc>
                <a:spcPct val="170000"/>
              </a:lnSpc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7"/>
          <p:cNvSpPr txBox="1"/>
          <p:nvPr/>
        </p:nvSpPr>
        <p:spPr>
          <a:xfrm>
            <a:off x="895985" y="0"/>
            <a:ext cx="203962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s-ES" altLang="en-US" sz="900" kern="700" dirty="0">
                <a:solidFill>
                  <a:schemeClr val="bg1"/>
                </a:solidFill>
                <a:uFillTx/>
                <a:latin typeface="Arial Regular" panose="020B0604020202020204" charset="0"/>
                <a:ea typeface="Roboto Bk" pitchFamily="2" charset="0"/>
                <a:cs typeface="Arial Regular" panose="020B0604020202020204" charset="0"/>
                <a:sym typeface="+mn-ea"/>
              </a:rPr>
              <a:t>Criterios de vecindad</a:t>
            </a:r>
            <a:endParaRPr lang="es-ES" altLang="en-US" sz="900" kern="700" dirty="0">
              <a:solidFill>
                <a:schemeClr val="bg1"/>
              </a:solidFill>
              <a:uFillTx/>
              <a:latin typeface="Arial Regular" panose="020B0604020202020204" charset="0"/>
              <a:ea typeface="Roboto Bk" pitchFamily="2" charset="0"/>
              <a:cs typeface="Arial Regular" panose="020B0604020202020204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6370" y="295868"/>
            <a:ext cx="2066290" cy="1263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Intercambiar dos clientes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Cambiar un cliente de posición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Cambiar un vehículo de ruta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  <a:sym typeface="+mn-ea"/>
              </a:rPr>
              <a:t>Insertar un nuevo cliente en una ruta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marL="171450" indent="-171450" algn="l">
              <a:lnSpc>
                <a:spcPct val="170000"/>
              </a:lnSpc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91441" y="62459"/>
            <a:ext cx="10166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Preguntas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845" y="549868"/>
            <a:ext cx="2929890" cy="7289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¿Cómo se puede automatizar el proceso de evaluación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de todas las soluciones?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¿Cómo generalizar ese proceso para todos los Problemas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de Enrutamiento de Vehículos?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65736" y="62459"/>
            <a:ext cx="86804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Objetivo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845" y="549868"/>
            <a:ext cx="3140710" cy="7289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Desarrollar una estructura que evalúe de manera autómatica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las soluciones vecinas de cualquier problema de enrutamiento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de vehículos, a partir del grafo de evaluación.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Para eso se implementa una cinta computacional basada en la 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s-ES" altLang="en-US" sz="830" kern="700" dirty="0">
                <a:solidFill>
                  <a:schemeClr val="bg1"/>
                </a:solidFill>
                <a:uFillTx/>
                <a:latin typeface="Arial Regular" panose="020B0604020202020204" charset="0"/>
                <a:cs typeface="Arial Regular" panose="020B0604020202020204" charset="0"/>
              </a:rPr>
              <a:t>idea de la diferenciación automática.</a:t>
            </a:r>
            <a:endParaRPr lang="es-ES" altLang="en-US" sz="830" kern="700" dirty="0">
              <a:solidFill>
                <a:schemeClr val="bg1"/>
              </a:solidFill>
              <a:uFillTx/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78373" y="62459"/>
            <a:ext cx="18427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Grafo de evaluación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2" name="Imagen 1" descr="ICVR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368935"/>
            <a:ext cx="2028825" cy="83502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293370" y="1298575"/>
            <a:ext cx="2618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>
                <a:solidFill>
                  <a:schemeClr val="bg1"/>
                </a:solidFill>
              </a:rPr>
              <a:t>Variables iniciales (proceso de inicialización)</a:t>
            </a:r>
            <a:endParaRPr lang="es-ES" altLang="en-US" sz="8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>
                <a:solidFill>
                  <a:schemeClr val="bg1"/>
                </a:solidFill>
              </a:rPr>
              <a:t>Evaluación de la solución inicial</a:t>
            </a:r>
            <a:endParaRPr lang="es-ES" altLang="en-US" sz="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78373" y="62459"/>
            <a:ext cx="18427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Grafo de evaluación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4" name="Imagen 3" descr="Graph-process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" y="417195"/>
            <a:ext cx="2150110" cy="1149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7661" y="62459"/>
            <a:ext cx="308419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Aplicación de criterios de vecindad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2" name="Imagen 1" descr="DeleteCli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575945"/>
            <a:ext cx="1463040" cy="773430"/>
          </a:xfrm>
          <a:prstGeom prst="rect">
            <a:avLst/>
          </a:prstGeom>
        </p:spPr>
      </p:pic>
      <p:pic>
        <p:nvPicPr>
          <p:cNvPr id="3" name="Imagen 2" descr="ChangeCli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940" y="575945"/>
            <a:ext cx="1463040" cy="7734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9332" y="62459"/>
            <a:ext cx="32181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¿Cómo evaluar de manera eficiente?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2" name="Imagen 1" descr="DeleteCli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" y="460375"/>
            <a:ext cx="1970405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3103" y="62459"/>
            <a:ext cx="23533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Diferenciación automática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42545" y="509905"/>
            <a:ext cx="350393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altLang="en-US" sz="900">
                <a:solidFill>
                  <a:schemeClr val="bg1"/>
                </a:solidFill>
              </a:rPr>
              <a:t>Evaluar la derivada de una función automáticamente</a:t>
            </a:r>
            <a:endParaRPr lang="es-ES" altLang="en-US" sz="90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altLang="en-US" sz="900">
                <a:solidFill>
                  <a:schemeClr val="bg1"/>
                </a:solidFill>
                <a:sym typeface="+mn-ea"/>
              </a:rPr>
              <a:t>La relación de las variables se presentan en un grafo</a:t>
            </a:r>
            <a:r>
              <a:rPr lang="es-ES" altLang="en-US" sz="900">
                <a:solidFill>
                  <a:schemeClr val="bg1"/>
                </a:solidFill>
              </a:rPr>
              <a:t> </a:t>
            </a:r>
            <a:endParaRPr lang="es-ES" altLang="en-US" sz="90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altLang="en-US" sz="900">
                <a:solidFill>
                  <a:schemeClr val="bg1"/>
                </a:solidFill>
              </a:rPr>
              <a:t>Guarda el procedimiento de evaluación en una cinta</a:t>
            </a:r>
            <a:endParaRPr lang="es-ES" altLang="en-US" sz="90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 altLang="en-US" sz="900">
                <a:solidFill>
                  <a:schemeClr val="bg1"/>
                </a:solidFill>
              </a:rPr>
              <a:t>Se evalúa en modo forward o reverse</a:t>
            </a:r>
            <a:endParaRPr lang="es-E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89535" y="83185"/>
            <a:ext cx="3021965" cy="1689100"/>
          </a:xfrm>
          <a:prstGeom prst="roundRect">
            <a:avLst>
              <a:gd name="adj" fmla="val 63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 de texto 1"/>
              <p:cNvSpPr txBox="1"/>
              <p:nvPr/>
            </p:nvSpPr>
            <p:spPr>
              <a:xfrm>
                <a:off x="595566" y="187262"/>
                <a:ext cx="1934210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𝑦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𝑠𝑒𝑛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altLang="es-ES" i="1" baseline="-25000">
                        <a:solidFill>
                          <a:schemeClr val="tx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s-ES" altLang="en-US">
                    <a:solidFill>
                      <a:schemeClr val="tx1"/>
                    </a:solidFill>
                    <a:latin typeface="DejaVu Math TeX Gyre" panose="02000503000000000000" charset="0"/>
                    <a:cs typeface="DejaVu Math TeX Gyre" panose="02000503000000000000" charset="0"/>
                  </a:rPr>
                  <a:t>*</a:t>
                </a:r>
                <a14:m>
                  <m:oMath xmlns:m="http://schemas.openxmlformats.org/officeDocument/2006/math"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es-ES" altLang="en-US" baseline="-25000">
                    <a:solidFill>
                      <a:schemeClr val="tx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2</a:t>
                </a:r>
                <a:endParaRPr lang="es-ES" altLang="en-US" baseline="-25000">
                  <a:solidFill>
                    <a:schemeClr val="tx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" name="Cuadro de 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66" y="187262"/>
                <a:ext cx="1934210" cy="370840"/>
              </a:xfrm>
              <a:prstGeom prst="rect">
                <a:avLst/>
              </a:prstGeom>
              <a:blipFill rotWithShape="1">
                <a:blip r:embed="rId2"/>
                <a:stretch>
                  <a:fillRect l="-30" t="-154" r="30" b="154"/>
                </a:stretch>
              </a:blipFill>
            </p:spPr>
            <p:txBody>
              <a:bodyPr/>
              <a:lstStyle/>
              <a:p>
                <a:r>
                  <a:rPr lang="es-E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ADgraph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741045"/>
            <a:ext cx="1150620" cy="689610"/>
          </a:xfrm>
          <a:prstGeom prst="rect">
            <a:avLst/>
          </a:prstGeom>
        </p:spPr>
      </p:pic>
      <p:pic>
        <p:nvPicPr>
          <p:cNvPr id="10" name="Imagen 9" descr="ADta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5" y="558165"/>
            <a:ext cx="712470" cy="1147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89535" y="85090"/>
            <a:ext cx="3021965" cy="1689100"/>
          </a:xfrm>
          <a:prstGeom prst="roundRect">
            <a:avLst>
              <a:gd name="adj" fmla="val 63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 de texto 1"/>
              <p:cNvSpPr txBox="1"/>
              <p:nvPr/>
            </p:nvSpPr>
            <p:spPr>
              <a:xfrm>
                <a:off x="595630" y="187325"/>
                <a:ext cx="2078355" cy="3708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𝑦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𝑠𝑒𝑛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  <m:r>
                      <a:rPr lang="en-US" altLang="es-ES" i="1" baseline="-25000">
                        <a:solidFill>
                          <a:schemeClr val="tx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s-ES" altLang="en-US">
                    <a:solidFill>
                      <a:schemeClr val="tx1"/>
                    </a:solidFill>
                    <a:latin typeface="DejaVu Math TeX Gyre" panose="02000503000000000000" charset="0"/>
                    <a:cs typeface="DejaVu Math TeX Gyre" panose="02000503000000000000" charset="0"/>
                  </a:rPr>
                  <a:t>*</a:t>
                </a:r>
                <a14:m>
                  <m:oMath xmlns:m="http://schemas.openxmlformats.org/officeDocument/2006/math">
                    <m:r>
                      <a:rPr lang="en-US" altLang="es-ES" i="1">
                        <a:solidFill>
                          <a:schemeClr val="tx1"/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es-ES" altLang="en-US" baseline="-25000">
                    <a:solidFill>
                      <a:schemeClr val="tx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2</a:t>
                </a:r>
                <a:endParaRPr lang="es-ES" altLang="en-US" baseline="-25000">
                  <a:solidFill>
                    <a:schemeClr val="tx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" name="Cuadro de 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30" y="187325"/>
                <a:ext cx="2078355" cy="3708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 descr="ADta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5" y="558165"/>
            <a:ext cx="712470" cy="1147445"/>
          </a:xfrm>
          <a:prstGeom prst="rect">
            <a:avLst/>
          </a:prstGeom>
        </p:spPr>
      </p:pic>
      <p:pic>
        <p:nvPicPr>
          <p:cNvPr id="3" name="Imagen 2" descr="ADFinalTa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470" y="558165"/>
            <a:ext cx="521335" cy="10788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89535" y="62865"/>
            <a:ext cx="3021965" cy="1765935"/>
          </a:xfrm>
          <a:prstGeom prst="roundRect">
            <a:avLst>
              <a:gd name="adj" fmla="val 63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93296" y="62459"/>
            <a:ext cx="18129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tx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Cinta de evaluación</a:t>
            </a:r>
            <a:endParaRPr lang="es-ES" altLang="en-US" sz="1400" dirty="0">
              <a:solidFill>
                <a:schemeClr val="tx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2" name="Imagen 1" descr="Ta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2105"/>
            <a:ext cx="2023110" cy="14109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89535" y="62865"/>
            <a:ext cx="3021965" cy="1765935"/>
          </a:xfrm>
          <a:prstGeom prst="roundRect">
            <a:avLst>
              <a:gd name="adj" fmla="val 63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93296" y="62459"/>
            <a:ext cx="18129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tx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Cinta de evaluación</a:t>
            </a:r>
            <a:endParaRPr lang="es-ES" altLang="en-US" sz="1400" dirty="0">
              <a:solidFill>
                <a:schemeClr val="tx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3" name="Imagen 2" descr="ChangeCli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" y="546735"/>
            <a:ext cx="1510665" cy="798830"/>
          </a:xfrm>
          <a:prstGeom prst="rect">
            <a:avLst/>
          </a:prstGeom>
        </p:spPr>
      </p:pic>
      <p:sp>
        <p:nvSpPr>
          <p:cNvPr id="7" name="Cuadro de texto 6"/>
          <p:cNvSpPr txBox="1"/>
          <p:nvPr/>
        </p:nvSpPr>
        <p:spPr>
          <a:xfrm>
            <a:off x="1732280" y="711835"/>
            <a:ext cx="2346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/>
              <a:t>Variables penalizadas</a:t>
            </a:r>
            <a:endParaRPr lang="es-ES" altLang="en-US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/>
              <a:t>Operación a realizar</a:t>
            </a:r>
            <a:endParaRPr lang="es-ES" altLang="en-US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/>
              <a:t>Verificación</a:t>
            </a:r>
            <a:endParaRPr lang="es-ES" altLang="en-US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800"/>
              <a:t>Evaluación eficiente</a:t>
            </a:r>
            <a:endParaRPr lang="es-ES" altLang="en-US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89535" y="62865"/>
            <a:ext cx="3021965" cy="1765935"/>
          </a:xfrm>
          <a:prstGeom prst="roundRect">
            <a:avLst>
              <a:gd name="adj" fmla="val 633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93296" y="62459"/>
            <a:ext cx="18129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tx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Cinta de evaluación</a:t>
            </a:r>
            <a:endParaRPr lang="es-ES" altLang="en-US" sz="1400" dirty="0">
              <a:solidFill>
                <a:schemeClr val="tx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3" name="Imagen 2" descr="ChangeCli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" y="614680"/>
            <a:ext cx="1132205" cy="598805"/>
          </a:xfrm>
          <a:prstGeom prst="rect">
            <a:avLst/>
          </a:prstGeom>
        </p:spPr>
      </p:pic>
      <p:sp>
        <p:nvSpPr>
          <p:cNvPr id="7" name="Cuadro de texto 6"/>
          <p:cNvSpPr txBox="1"/>
          <p:nvPr/>
        </p:nvSpPr>
        <p:spPr>
          <a:xfrm>
            <a:off x="1292860" y="530860"/>
            <a:ext cx="1742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s-ES" altLang="en-US" sz="600"/>
              <a:t>cliente_i</a:t>
            </a:r>
            <a:endParaRPr lang="es-ES" altLang="en-US" sz="600"/>
          </a:p>
          <a:p>
            <a:pPr indent="0">
              <a:buNone/>
            </a:pPr>
            <a:r>
              <a:rPr lang="es-ES" altLang="en-US" sz="600"/>
              <a:t>    Insertar cliente (2,2)</a:t>
            </a:r>
            <a:endParaRPr lang="es-ES" altLang="en-US" sz="600"/>
          </a:p>
          <a:p>
            <a:pPr indent="0">
              <a:buNone/>
            </a:pPr>
            <a:r>
              <a:rPr lang="es-ES" altLang="en-US" sz="600"/>
              <a:t>    por cada cliente_i en clientes_penalizados:</a:t>
            </a: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si cliente_i en ruta 2  </a:t>
            </a:r>
            <a:endParaRPr lang="es-ES" altLang="en-US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en-US" sz="600"/>
              <a:t>si posición cliente_i &lt; posición cliente 2</a:t>
            </a:r>
            <a:endParaRPr lang="es-ES" altLang="en-US" sz="600"/>
          </a:p>
          <a:p>
            <a:pPr indent="0">
              <a:buNone/>
            </a:pPr>
            <a:r>
              <a:rPr lang="es-ES" altLang="en-US" sz="600"/>
              <a:t>                Evaluar ruta 2</a:t>
            </a:r>
            <a:endParaRPr lang="es-ES" altLang="en-US" sz="600"/>
          </a:p>
          <a:p>
            <a:pPr indent="0">
              <a:buNone/>
            </a:pPr>
            <a:r>
              <a:rPr lang="es-ES" altLang="en-US" sz="600"/>
              <a:t>                terminar</a:t>
            </a:r>
            <a:endParaRPr lang="es-ES" altLang="en-US" sz="600"/>
          </a:p>
          <a:p>
            <a:pPr indent="0">
              <a:buNone/>
            </a:pPr>
            <a:r>
              <a:rPr lang="es-ES" altLang="en-US" sz="600"/>
              <a:t>    Reevaluar (2,2)</a:t>
            </a:r>
            <a:endParaRPr lang="es-ES" altLang="en-US" sz="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860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9801" y="62459"/>
            <a:ext cx="185991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Problemas resueltos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pic>
        <p:nvPicPr>
          <p:cNvPr id="2" name="Imagen 1" descr="VRPSP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" y="440055"/>
            <a:ext cx="1477645" cy="948690"/>
          </a:xfrm>
          <a:prstGeom prst="rect">
            <a:avLst/>
          </a:prstGeom>
        </p:spPr>
      </p:pic>
      <p:pic>
        <p:nvPicPr>
          <p:cNvPr id="4" name="Imagen 3" descr="VRPT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15" y="433070"/>
            <a:ext cx="1322070" cy="962025"/>
          </a:xfrm>
          <a:prstGeom prst="rect">
            <a:avLst/>
          </a:prstGeom>
        </p:spPr>
      </p:pic>
      <p:sp>
        <p:nvSpPr>
          <p:cNvPr id="5" name="TextBox 7"/>
          <p:cNvSpPr txBox="1"/>
          <p:nvPr/>
        </p:nvSpPr>
        <p:spPr>
          <a:xfrm>
            <a:off x="332616" y="1460094"/>
            <a:ext cx="8832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VRPSPD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2029336" y="1459459"/>
            <a:ext cx="80581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s-ES" altLang="en-US" sz="1400" dirty="0">
                <a:solidFill>
                  <a:schemeClr val="bg1"/>
                </a:solidFill>
                <a:latin typeface=".AppleSystemUIFont Regular" charset="0"/>
                <a:ea typeface="Roboto Bk" pitchFamily="2" charset="0"/>
                <a:cs typeface=".AppleSystemUIFont Regular" charset="0"/>
              </a:rPr>
              <a:t>VRPTW</a:t>
            </a:r>
            <a:endParaRPr lang="es-ES" altLang="en-US" sz="1400" dirty="0">
              <a:solidFill>
                <a:schemeClr val="bg1"/>
              </a:solidFill>
              <a:latin typeface=".AppleSystemUIFont Regular" charset="0"/>
              <a:ea typeface="Roboto Bk" pitchFamily="2" charset="0"/>
              <a:cs typeface=".AppleSystemUIFont Regular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" b="43771"/>
          <a:stretch>
            <a:fillRect/>
          </a:stretch>
        </p:blipFill>
        <p:spPr bwMode="auto">
          <a:xfrm rot="10800000">
            <a:off x="-22225" y="0"/>
            <a:ext cx="3244850" cy="185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2901" y="171044"/>
            <a:ext cx="298513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Proceso de Evaluación Automática 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en Problemas de 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Raanana Regular" charset="0"/>
                <a:ea typeface="Roboto Bk" pitchFamily="2" charset="0"/>
                <a:cs typeface="Raanana Regular" charset="0"/>
              </a:rPr>
              <a:t>Enrutamiento de Vehículos</a:t>
            </a:r>
            <a:endParaRPr lang="en-US" sz="1400" dirty="0">
              <a:solidFill>
                <a:schemeClr val="bg1"/>
              </a:solidFill>
              <a:latin typeface="Raanana Regular" charset="0"/>
              <a:ea typeface="Roboto Bk" pitchFamily="2" charset="0"/>
              <a:cs typeface="Raanana Regular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3885" y="908008"/>
            <a:ext cx="192278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Autor: Josué Rodríguez Ramírez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Tutor: Fernando Raúl Rodríguez Flores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  <a:p>
            <a:pPr algn="ctr"/>
            <a:r>
              <a:rPr lang="en-US" altLang="zh-CN" sz="630" spc="79" dirty="0">
                <a:solidFill>
                  <a:schemeClr val="bg1"/>
                </a:solidFill>
                <a:latin typeface="Raanana Regular" charset="0"/>
                <a:cs typeface="Raanana Regular" charset="0"/>
              </a:rPr>
              <a:t>Cotutor: Lic. Rodrigo García Gómez</a:t>
            </a:r>
            <a:endParaRPr lang="en-US" altLang="zh-CN" sz="630" spc="79" dirty="0">
              <a:solidFill>
                <a:schemeClr val="bg1"/>
              </a:solidFill>
              <a:latin typeface="Raanana Regular" charset="0"/>
              <a:cs typeface="Raanana Regular" charset="0"/>
            </a:endParaRPr>
          </a:p>
        </p:txBody>
      </p:sp>
      <p:sp>
        <p:nvSpPr>
          <p:cNvPr id="12" name="Cuadro de texto 11"/>
          <p:cNvSpPr txBox="1"/>
          <p:nvPr/>
        </p:nvSpPr>
        <p:spPr>
          <a:xfrm>
            <a:off x="200025" y="1530985"/>
            <a:ext cx="689610" cy="168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500" spc="79" dirty="0">
                <a:solidFill>
                  <a:schemeClr val="bg1"/>
                </a:solidFill>
                <a:latin typeface="Raanana Regular" charset="0"/>
                <a:cs typeface="Raanana Regular" charset="0"/>
                <a:sym typeface="+mn-ea"/>
              </a:rPr>
              <a:t>@josue_rdgz</a:t>
            </a:r>
            <a:endParaRPr lang="en-US" altLang="zh-CN" sz="500" spc="79" dirty="0">
              <a:solidFill>
                <a:schemeClr val="bg1"/>
              </a:solidFill>
              <a:latin typeface="Raanana Regular" charset="0"/>
              <a:cs typeface="Raanana Regular" charset="0"/>
              <a:sym typeface="+mn-ea"/>
            </a:endParaRPr>
          </a:p>
        </p:txBody>
      </p:sp>
      <p:sp>
        <p:nvSpPr>
          <p:cNvPr id="38" name="Cuadro de texto 37"/>
          <p:cNvSpPr txBox="1"/>
          <p:nvPr/>
        </p:nvSpPr>
        <p:spPr>
          <a:xfrm>
            <a:off x="2526665" y="1517650"/>
            <a:ext cx="805815" cy="183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s-ES" altLang="en-US" sz="600" spc="79" dirty="0">
                <a:solidFill>
                  <a:schemeClr val="bg1"/>
                </a:solidFill>
                <a:latin typeface="Raanana Regular" charset="0"/>
                <a:cs typeface="Raanana Regular" charset="0"/>
                <a:sym typeface="+mn-ea"/>
              </a:rPr>
              <a:t>+525533242336</a:t>
            </a:r>
            <a:endParaRPr lang="es-ES" altLang="en-US" sz="600" spc="79" dirty="0">
              <a:solidFill>
                <a:schemeClr val="bg1"/>
              </a:solidFill>
              <a:latin typeface="Raanana Regular" charset="0"/>
              <a:cs typeface="Raanana Regular" charset="0"/>
              <a:sym typeface="+mn-ea"/>
            </a:endParaRPr>
          </a:p>
        </p:txBody>
      </p:sp>
      <p:sp>
        <p:nvSpPr>
          <p:cNvPr id="40" name="Cuadro de texto 39"/>
          <p:cNvSpPr txBox="1"/>
          <p:nvPr/>
        </p:nvSpPr>
        <p:spPr>
          <a:xfrm>
            <a:off x="1089025" y="1525270"/>
            <a:ext cx="1305560" cy="168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s-ES" altLang="en-US" sz="500" spc="79" dirty="0">
                <a:solidFill>
                  <a:schemeClr val="bg1"/>
                </a:solidFill>
                <a:latin typeface="Raanana Regular" charset="0"/>
                <a:ea typeface="Apple LiSung" charset="-122"/>
                <a:cs typeface="Raanana Regular" charset="0"/>
                <a:sym typeface="+mn-ea"/>
              </a:rPr>
              <a:t>josuerdgz.ramirez@gmail.com</a:t>
            </a:r>
            <a:endParaRPr lang="es-ES" altLang="en-US" sz="500" spc="79" dirty="0">
              <a:solidFill>
                <a:schemeClr val="bg1"/>
              </a:solidFill>
              <a:latin typeface="Raanana Regular" charset="0"/>
              <a:ea typeface="Apple LiSung" charset="-122"/>
              <a:cs typeface="Raanana Regular" charset="0"/>
              <a:sym typeface="+mn-ea"/>
            </a:endParaRPr>
          </a:p>
        </p:txBody>
      </p:sp>
      <p:pic>
        <p:nvPicPr>
          <p:cNvPr id="45" name="Imagen 44" descr="icons8-telegram-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" y="1558925"/>
            <a:ext cx="127000" cy="127000"/>
          </a:xfrm>
          <a:prstGeom prst="rect">
            <a:avLst/>
          </a:prstGeom>
        </p:spPr>
      </p:pic>
      <p:pic>
        <p:nvPicPr>
          <p:cNvPr id="48" name="Imagen 47" descr="icons8-correo-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" y="1536700"/>
            <a:ext cx="156210" cy="156210"/>
          </a:xfrm>
          <a:prstGeom prst="rect">
            <a:avLst/>
          </a:prstGeom>
        </p:spPr>
      </p:pic>
      <p:pic>
        <p:nvPicPr>
          <p:cNvPr id="55" name="Imagen 54" descr="icons8-whatsapp-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335" y="1531620"/>
            <a:ext cx="156210" cy="1562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2692</Words>
  <Application>WPS Presentation</Application>
  <PresentationFormat>自定义</PresentationFormat>
  <Paragraphs>143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SimSun</vt:lpstr>
      <vt:lpstr>Wingdings</vt:lpstr>
      <vt:lpstr>Raanana Regular</vt:lpstr>
      <vt:lpstr>Roboto Bk</vt:lpstr>
      <vt:lpstr>苹方-简</vt:lpstr>
      <vt:lpstr>Apple LiSung</vt:lpstr>
      <vt:lpstr>.AppleSystemUIFont Regular</vt:lpstr>
      <vt:lpstr>Arial Regular</vt:lpstr>
      <vt:lpstr>DejaVu Math TeX Gyre</vt:lpstr>
      <vt:lpstr>Microsoft YaHei</vt:lpstr>
      <vt:lpstr>汉仪旗黑</vt:lpstr>
      <vt:lpstr>Arial Unicode MS</vt:lpstr>
      <vt:lpstr>Calibri</vt:lpstr>
      <vt:lpstr>Helvetica Neue</vt:lpstr>
      <vt:lpstr>Calibri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Card</dc:title>
  <dc:creator>copyright@2019—dreamer</dc:creator>
  <dc:subject>Name Card</dc:subject>
  <cp:lastModifiedBy>josue</cp:lastModifiedBy>
  <cp:revision>5</cp:revision>
  <dcterms:created xsi:type="dcterms:W3CDTF">2024-01-16T00:19:54Z</dcterms:created>
  <dcterms:modified xsi:type="dcterms:W3CDTF">2024-01-16T00:19:54Z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670746F447534E51AFEFD2DB08C12EEA</vt:lpwstr>
  </property>
  <property fmtid="{D5CDD505-2E9C-101B-9397-08002B2CF9AE}" pid="3" name="KSOProductBuildVer">
    <vt:lpwstr>3082-5.6.0.8082</vt:lpwstr>
  </property>
</Properties>
</file>